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5" r:id="rId1"/>
  </p:sldMasterIdLst>
  <p:notesMasterIdLst>
    <p:notesMasterId r:id="rId18"/>
  </p:notesMasterIdLst>
  <p:sldIdLst>
    <p:sldId id="256" r:id="rId2"/>
    <p:sldId id="257" r:id="rId3"/>
    <p:sldId id="272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0" r:id="rId17"/>
  </p:sldIdLst>
  <p:sldSz cx="14630400" cy="8229600"/>
  <p:notesSz cx="8229600" cy="146304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056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60A5B-70C3-3807-9D92-776A70C01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70567-364C-2152-B8F7-32D1170F2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C2493-02FD-DD91-D997-7838D5A39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A01B-D751-4F39-ACF6-DF377D2856F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D1E00-E456-0F09-06BB-FF251B3BC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26944-63D3-4212-0BF6-D300A2B9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450A-5C2F-44A1-8038-0CDDF88B3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9876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E218B-04D7-936C-7651-508689F71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099CA-52D0-F83D-5980-E7F2BE727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A674D-96C8-EDF0-DD78-E27217B2F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A01B-D751-4F39-ACF6-DF377D2856F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9DB17-F291-47A4-3A1E-580A0710C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6A51E-E8CB-5085-0FCC-A55D977AA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450A-5C2F-44A1-8038-0CDDF88B3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3698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0355-2F4C-75CF-91A6-871E97028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77006-3C07-6F0E-44C0-2C1310DAA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35743-DB44-6386-16C9-B404CEF81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A01B-D751-4F39-ACF6-DF377D2856F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640DB-4570-AA68-9A9B-DB37758B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031E1-DC9B-8DC5-8BF2-4FD3AE0D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450A-5C2F-44A1-8038-0CDDF88B3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1252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AC125-50A6-11F5-F231-11FD6C844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A6F84-F1E2-A707-6EF2-46D1091B60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32966-C8C7-1324-F786-48ED3681B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A7E7F-D944-35A4-D534-1357460E6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A01B-D751-4F39-ACF6-DF377D2856F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61AE8-5004-DA96-90F3-F35264363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31355-91E2-904E-795B-EE4D05E1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450A-5C2F-44A1-8038-0CDDF88B3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0552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CCAF-7515-D6B6-A252-D158452DA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B883C-FFB7-86E3-E362-F3CE2D714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B0BA0-C223-7091-E2D2-58158BD28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172A0B-B0CF-336A-A84E-7F8ADC0893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7118C6-DBD4-A952-D77E-A1AE8AAD47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9F7BE4-A8FC-9709-5654-925FE2D4C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A01B-D751-4F39-ACF6-DF377D2856F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F700FC-8B77-6714-6B31-729C9FCC4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25C938-0783-6D19-C059-0C059435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450A-5C2F-44A1-8038-0CDDF88B3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0494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A6032-5500-8AD2-01C1-10718CDBF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9B3171-A35E-47E1-D566-87C70758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A01B-D751-4F39-ACF6-DF377D2856F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62004-D00F-A0A3-16C1-EC0BD45F5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E82B2-7222-1508-EF42-237F63232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450A-5C2F-44A1-8038-0CDDF88B3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7084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219D4C-72E6-B627-A56D-EF13C4E37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A01B-D751-4F39-ACF6-DF377D2856F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46108-7C62-1C59-98F9-3967A7165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39E2E-26FF-4F40-3516-83AD9C116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450A-5C2F-44A1-8038-0CDDF88B3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7790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131EB-B384-8458-1154-C4A0A073F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1999F-C7FA-2A37-3B21-149A596B0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F902F-F03B-4DFC-FAC3-EDFA7F3D9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E6399-8754-4B15-89F9-5C811021A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A01B-D751-4F39-ACF6-DF377D2856F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8DA92-B3AD-AA6E-EAEF-92353351E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0D3E4-2C3E-4B07-435B-49BD99AE7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450A-5C2F-44A1-8038-0CDDF88B3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5027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9681B-5800-16E5-554B-A49A2BFB1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9BA2F0-7387-ADC9-BC15-8FDC951B0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E26C0-7D20-0967-A186-602F31516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3FA2B-6B02-6B6C-1416-A6DF6197F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A01B-D751-4F39-ACF6-DF377D2856F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FCE9E-F317-7593-9370-E65A7721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A2EE1-29BD-DA4E-8043-E9030157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450A-5C2F-44A1-8038-0CDDF88B3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01621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326A1-30D3-A2A9-1458-BB8B5FDB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F2884-FBA8-47CF-8028-95DD62448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9427E-14B3-7ABF-6D66-E45801B4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A01B-D751-4F39-ACF6-DF377D2856F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D8BC8-72E2-3D34-B116-0060DFB72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77F38-D192-496D-5F2E-D50537A70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450A-5C2F-44A1-8038-0CDDF88B3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8470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96A2E7-2119-5EB5-22F4-824AB6904B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044E6-D3A8-B1EF-6DF9-15739FE70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AB2FC-F5F9-1BB9-72CB-8C43BCAE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A01B-D751-4F39-ACF6-DF377D2856F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96EA9-CADC-1411-9067-B295AF667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67E3F-D329-6A9C-F57D-670515D8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450A-5C2F-44A1-8038-0CDDF88B3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6364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605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77993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524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323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803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1256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6681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4906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6898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4992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7865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7413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931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4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9BBC65-472A-EA99-F637-F962FA5A2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735DC-CD4F-CED6-A665-1DF6D94C8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7029C-AED8-FC68-3BEA-A4539A6682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0A01B-D751-4F39-ACF6-DF377D2856F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32155-5C78-4EB5-0EBD-277D1DCBB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F7ED3-C876-F612-8E6F-4153749D5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9450A-5C2F-44A1-8038-0CDDF88B3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755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  <p:sldLayoutId id="2147483685" r:id="rId20"/>
    <p:sldLayoutId id="2147483686" r:id="rId21"/>
    <p:sldLayoutId id="2147483687" r:id="rId22"/>
    <p:sldLayoutId id="2147483688" r:id="rId23"/>
    <p:sldLayoutId id="2147483689" r:id="rId24"/>
    <p:sldLayoutId id="2147483690" r:id="rId25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wellnest-project.online:9090/" TargetMode="External"/><Relationship Id="rId3" Type="http://schemas.openxmlformats.org/officeDocument/2006/relationships/hyperlink" Target="https://github.com/WellNest-Project" TargetMode="External"/><Relationship Id="rId7" Type="http://schemas.openxmlformats.org/officeDocument/2006/relationships/hyperlink" Target="http://wellnest-project.online:3200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Relationship Id="rId6" Type="http://schemas.openxmlformats.org/officeDocument/2006/relationships/hyperlink" Target="http://wellnest-project.online:8080/" TargetMode="External"/><Relationship Id="rId5" Type="http://schemas.openxmlformats.org/officeDocument/2006/relationships/hyperlink" Target="http://wellnest-project.online:8081/" TargetMode="External"/><Relationship Id="rId4" Type="http://schemas.openxmlformats.org/officeDocument/2006/relationships/hyperlink" Target="http://wellnest-project.onlin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 b="1404"/>
          <a:stretch>
            <a:fillRect/>
          </a:stretch>
        </p:blipFill>
        <p:spPr>
          <a:xfrm>
            <a:off x="8842080" y="1137040"/>
            <a:ext cx="5259586" cy="576858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2439114"/>
            <a:ext cx="1886069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5" name="Text 2"/>
          <p:cNvSpPr/>
          <p:nvPr/>
        </p:nvSpPr>
        <p:spPr>
          <a:xfrm>
            <a:off x="929878" y="2507099"/>
            <a:ext cx="161389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 PROJECT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3790" y="29560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WellNest     </a:t>
            </a:r>
            <a:endParaRPr lang="en-US" sz="4450" dirty="0"/>
          </a:p>
        </p:txBody>
      </p:sp>
      <p:sp>
        <p:nvSpPr>
          <p:cNvPr id="7" name="Text 4"/>
          <p:cNvSpPr/>
          <p:nvPr/>
        </p:nvSpPr>
        <p:spPr>
          <a:xfrm>
            <a:off x="793790" y="400502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Cloud-Native Mental Health Platform — built on microservices, containerized with Docker, orchestrated on Kubernetes, and secured end-to-end with DevSecOps practices.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5348883"/>
            <a:ext cx="1017151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7498" y="5424488"/>
            <a:ext cx="72973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924288" y="5348883"/>
            <a:ext cx="1381006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67997" y="5424488"/>
            <a:ext cx="109358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DEVSECOPS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18642" y="5348883"/>
            <a:ext cx="147661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2350" y="5424488"/>
            <a:ext cx="11891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08602" y="5348883"/>
            <a:ext cx="79724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52311" y="5424488"/>
            <a:ext cx="50982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919192" y="5348883"/>
            <a:ext cx="953929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62901" y="5424488"/>
            <a:ext cx="66651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GITOPS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21983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WellNest?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260" y="1685092"/>
            <a:ext cx="1314188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WellNest is a mental health platform built as </a:t>
            </a: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backend microservices + 1 frontend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containerized with Docker, and orchestrated on Kubernetes across isolated dev and prod environments.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4260" y="2568416"/>
            <a:ext cx="6471285" cy="2419945"/>
          </a:xfrm>
          <a:prstGeom prst="roundRect">
            <a:avLst>
              <a:gd name="adj" fmla="val 369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525" y="2788682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 Service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64525" y="3240524"/>
            <a:ext cx="6030754" cy="152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registration &amp; login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tokens 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 password hashing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for user data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14855" y="2568416"/>
            <a:ext cx="6471285" cy="2419945"/>
          </a:xfrm>
          <a:prstGeom prst="roundRect">
            <a:avLst>
              <a:gd name="adj" fmla="val 369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121" y="2788682"/>
            <a:ext cx="2666405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Assessment Service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635121" y="3240524"/>
            <a:ext cx="6030754" cy="152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 health assessments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PHQ-9 &amp; GAD-7 questionnaires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calculation &amp; history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storage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44260" y="5187672"/>
            <a:ext cx="6471285" cy="2419945"/>
          </a:xfrm>
          <a:prstGeom prst="roundRect">
            <a:avLst>
              <a:gd name="adj" fmla="val 369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525" y="5407938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Therapist Service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964525" y="5859780"/>
            <a:ext cx="6030754" cy="152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Therapist profiles &amp; search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Appointment booking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management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storage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14855" y="5187672"/>
            <a:ext cx="6471285" cy="2419945"/>
          </a:xfrm>
          <a:prstGeom prst="roundRect">
            <a:avLst>
              <a:gd name="adj" fmla="val 369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121" y="5407938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7635121" y="5859780"/>
            <a:ext cx="6030754" cy="152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 + TypeScript + Vite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CSS + shadcn/ui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in localStorage, protected routes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Served via Nginx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3D2D30-A86A-6D6A-47A5-7C1F7E9DCEF3}"/>
              </a:ext>
            </a:extLst>
          </p:cNvPr>
          <p:cNvSpPr txBox="1"/>
          <p:nvPr/>
        </p:nvSpPr>
        <p:spPr>
          <a:xfrm>
            <a:off x="257175" y="266700"/>
            <a:ext cx="7524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Inter Bold"/>
              </a:rPr>
              <a:t>Application-Flow Diagram: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91D3D3-C697-2077-D986-DBACC2FED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868" y="980583"/>
            <a:ext cx="6897063" cy="704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03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515541"/>
            <a:ext cx="5783937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Containerization with Docker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573173" y="1200626"/>
            <a:ext cx="5660469" cy="6513433"/>
          </a:xfrm>
          <a:prstGeom prst="roundRect">
            <a:avLst>
              <a:gd name="adj" fmla="val 2074"/>
            </a:avLst>
          </a:prstGeom>
          <a:solidFill>
            <a:srgbClr val="4950BC"/>
          </a:solidFill>
          <a:ln/>
        </p:spPr>
      </p:sp>
      <p:sp>
        <p:nvSpPr>
          <p:cNvPr id="4" name="Text 2"/>
          <p:cNvSpPr/>
          <p:nvPr/>
        </p:nvSpPr>
        <p:spPr>
          <a:xfrm>
            <a:off x="1736169" y="1317784"/>
            <a:ext cx="353984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Services — Node.js Alpine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36169" y="1704380"/>
            <a:ext cx="325993" cy="203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736169" y="1958459"/>
            <a:ext cx="533447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1736169" y="2085618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 Image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6169" y="2457569"/>
            <a:ext cx="5334476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node:20-alpine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minimal footprint via Alpine Linux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736169" y="2928580"/>
            <a:ext cx="325993" cy="203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736169" y="3182660"/>
            <a:ext cx="533447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1736169" y="3309818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Install &amp; Copy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6169" y="3681770"/>
            <a:ext cx="5334476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--omit=dev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12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COPY src/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736169" y="4152781"/>
            <a:ext cx="325993" cy="203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736169" y="4406860"/>
            <a:ext cx="533447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1736169" y="4534019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Non-Root Security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6169" y="4905970"/>
            <a:ext cx="5334476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adduser -S wellnest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12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chown -R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12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 wellnest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736169" y="5376982"/>
            <a:ext cx="325993" cy="203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736169" y="5631061"/>
            <a:ext cx="533447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1736169" y="5758220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6169" y="6130171"/>
            <a:ext cx="5334476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3001/3002/3003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12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CMD: node src/index.js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21535" y="1317784"/>
            <a:ext cx="2920722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— Multi-Stage Build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21535" y="1704380"/>
            <a:ext cx="5425678" cy="1650206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4395" y="1727240"/>
            <a:ext cx="5379958" cy="488990"/>
          </a:xfrm>
          <a:prstGeom prst="roundRect">
            <a:avLst>
              <a:gd name="adj" fmla="val 8393"/>
            </a:avLst>
          </a:prstGeom>
          <a:solidFill>
            <a:srgbClr val="DADBF1"/>
          </a:solidFill>
          <a:ln/>
        </p:spPr>
      </p:sp>
      <p:sp>
        <p:nvSpPr>
          <p:cNvPr id="24" name="Text 22"/>
          <p:cNvSpPr/>
          <p:nvPr/>
        </p:nvSpPr>
        <p:spPr>
          <a:xfrm>
            <a:off x="10112097" y="1815108"/>
            <a:ext cx="24443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707392" y="2333387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1 — Builder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07392" y="2705338"/>
            <a:ext cx="5053965" cy="46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node:20-alpine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12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12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(Vite) → produces </a:t>
            </a:r>
            <a:r>
              <a:rPr lang="en-US" sz="12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/app/dist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521535" y="3471743"/>
            <a:ext cx="5425678" cy="1418511"/>
          </a:xfrm>
          <a:prstGeom prst="roundRect">
            <a:avLst>
              <a:gd name="adj" fmla="val 482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4395" y="3494603"/>
            <a:ext cx="5379958" cy="488990"/>
          </a:xfrm>
          <a:prstGeom prst="roundRect">
            <a:avLst>
              <a:gd name="adj" fmla="val 8393"/>
            </a:avLst>
          </a:prstGeom>
          <a:solidFill>
            <a:srgbClr val="DADBF1"/>
          </a:solidFill>
          <a:ln/>
        </p:spPr>
      </p:sp>
      <p:sp>
        <p:nvSpPr>
          <p:cNvPr id="29" name="Text 27"/>
          <p:cNvSpPr/>
          <p:nvPr/>
        </p:nvSpPr>
        <p:spPr>
          <a:xfrm>
            <a:off x="10112097" y="3582472"/>
            <a:ext cx="24443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7707392" y="4100751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2 — Runtime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07392" y="4472702"/>
            <a:ext cx="5053965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nginx:alpine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copy </a:t>
            </a:r>
            <a:r>
              <a:rPr lang="en-US" sz="12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dist/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copy </a:t>
            </a:r>
            <a:r>
              <a:rPr lang="en-US" sz="12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nginx.conf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521535" y="5007412"/>
            <a:ext cx="5425678" cy="1634966"/>
          </a:xfrm>
          <a:prstGeom prst="roundRect">
            <a:avLst>
              <a:gd name="adj" fmla="val 418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4395" y="5030272"/>
            <a:ext cx="5379958" cy="488990"/>
          </a:xfrm>
          <a:prstGeom prst="roundRect">
            <a:avLst>
              <a:gd name="adj" fmla="val 8393"/>
            </a:avLst>
          </a:prstGeom>
          <a:solidFill>
            <a:srgbClr val="DADBF1"/>
          </a:solidFill>
          <a:ln/>
        </p:spPr>
      </p:sp>
      <p:sp>
        <p:nvSpPr>
          <p:cNvPr id="34" name="Text 32"/>
          <p:cNvSpPr/>
          <p:nvPr/>
        </p:nvSpPr>
        <p:spPr>
          <a:xfrm>
            <a:off x="10112097" y="5118140"/>
            <a:ext cx="24443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7707392" y="5636419"/>
            <a:ext cx="2152293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Runtime Env Injection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07392" y="6008370"/>
            <a:ext cx="5053965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Nginx serves static build. API URLs configured via env variables at build time.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521535" y="6774180"/>
            <a:ext cx="5425678" cy="808077"/>
          </a:xfrm>
          <a:prstGeom prst="roundRect">
            <a:avLst>
              <a:gd name="adj" fmla="val 8474"/>
            </a:avLst>
          </a:prstGeom>
          <a:solidFill>
            <a:srgbClr val="B6D6FC"/>
          </a:solidFill>
          <a:ln/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532" y="7002899"/>
            <a:ext cx="203716" cy="162997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8051244" y="6932057"/>
            <a:ext cx="4732973" cy="46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Tagging Strategy: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Dev: Short SHA (</a:t>
            </a:r>
            <a:r>
              <a:rPr lang="en-US" sz="1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3a4b5c6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· Prod: Semantic Version (</a:t>
            </a:r>
            <a:r>
              <a:rPr lang="en-US" sz="1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v1.0.1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· All images pushed to Docker Hub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85192"/>
            <a:ext cx="9019937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Kubernetes — Resources &amp; Architecture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905" y="1460540"/>
            <a:ext cx="460653" cy="4606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905" y="2108359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6905" y="2486025"/>
            <a:ext cx="6264593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· assessment · therapist · frontend(Rollouts)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8664" y="1460540"/>
            <a:ext cx="460653" cy="4606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08664" y="2108359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StatefulSets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408664" y="2486025"/>
            <a:ext cx="6264712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7 — 3 replicas with persistent storage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6905" y="3052643"/>
            <a:ext cx="460653" cy="4606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905" y="3700463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PVCs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956905" y="4078129"/>
            <a:ext cx="6264593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NFS StorageClass · 2Gi (dev) / 5Gi (prod) per MongoDB instance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8664" y="3052643"/>
            <a:ext cx="460653" cy="4606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08664" y="3700463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NetworkPolicy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7408664" y="4078129"/>
            <a:ext cx="6264712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latin typeface="Inter" panose="020B0604020202020204" charset="0"/>
                <a:ea typeface="Inter" panose="020B0604020202020204" charset="0"/>
              </a:rPr>
              <a:t>Deny Frontend to the MongoDB</a:t>
            </a: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6905" y="4644747"/>
            <a:ext cx="460653" cy="46065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6905" y="5292566"/>
            <a:ext cx="2305764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Gateway (kgateway)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956905" y="5670233"/>
            <a:ext cx="6264593" cy="54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3001 ·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/api/assessment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3002 ·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/api/therapist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3003 ·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frontend:80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08664" y="4644747"/>
            <a:ext cx="460653" cy="46065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08664" y="5292566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Namespaces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7408664" y="5670233"/>
            <a:ext cx="6264712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wellnest-dev · </a:t>
            </a:r>
            <a:r>
              <a:rPr lang="en-US" sz="14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wellnest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-prod</a:t>
            </a:r>
            <a:endParaRPr lang="en-US" sz="1450" dirty="0"/>
          </a:p>
        </p:txBody>
      </p:sp>
      <p:sp>
        <p:nvSpPr>
          <p:cNvPr id="21" name="Shape 13"/>
          <p:cNvSpPr/>
          <p:nvPr/>
        </p:nvSpPr>
        <p:spPr>
          <a:xfrm>
            <a:off x="824151" y="6380559"/>
            <a:ext cx="6398895" cy="1263848"/>
          </a:xfrm>
          <a:prstGeom prst="roundRect">
            <a:avLst>
              <a:gd name="adj" fmla="val 10499"/>
            </a:avLst>
          </a:prstGeom>
          <a:solidFill>
            <a:srgbClr val="4950BC"/>
          </a:solidFill>
          <a:ln/>
        </p:spPr>
      </p:sp>
      <p:sp>
        <p:nvSpPr>
          <p:cNvPr id="22" name="Text 14"/>
          <p:cNvSpPr/>
          <p:nvPr/>
        </p:nvSpPr>
        <p:spPr>
          <a:xfrm>
            <a:off x="1008340" y="6530221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 Environment</a:t>
            </a:r>
            <a:endParaRPr lang="en-US" sz="1800" dirty="0"/>
          </a:p>
        </p:txBody>
      </p:sp>
      <p:sp>
        <p:nvSpPr>
          <p:cNvPr id="23" name="Text 15"/>
          <p:cNvSpPr/>
          <p:nvPr/>
        </p:nvSpPr>
        <p:spPr>
          <a:xfrm>
            <a:off x="1008340" y="6967776"/>
            <a:ext cx="6030516" cy="54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wellnest-dev</a:t>
            </a: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namespace · </a:t>
            </a:r>
            <a:r>
              <a:rPr lang="en-US" sz="14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develop</a:t>
            </a: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branch · </a:t>
            </a:r>
            <a:r>
              <a:rPr lang="en-US" sz="14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values-dev.yaml</a:t>
            </a: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HPA min:1 max:3</a:t>
            </a:r>
            <a:endParaRPr lang="en-US" sz="1450" dirty="0"/>
          </a:p>
        </p:txBody>
      </p:sp>
      <p:sp>
        <p:nvSpPr>
          <p:cNvPr id="24" name="Shape 16"/>
          <p:cNvSpPr/>
          <p:nvPr/>
        </p:nvSpPr>
        <p:spPr>
          <a:xfrm>
            <a:off x="7414736" y="6380559"/>
            <a:ext cx="6398895" cy="1263848"/>
          </a:xfrm>
          <a:prstGeom prst="roundRect">
            <a:avLst>
              <a:gd name="adj" fmla="val 10499"/>
            </a:avLst>
          </a:prstGeom>
          <a:solidFill>
            <a:srgbClr val="4950BC"/>
          </a:solidFill>
          <a:ln/>
        </p:spPr>
      </p:sp>
      <p:sp>
        <p:nvSpPr>
          <p:cNvPr id="25" name="Text 17"/>
          <p:cNvSpPr/>
          <p:nvPr/>
        </p:nvSpPr>
        <p:spPr>
          <a:xfrm>
            <a:off x="7598926" y="6530221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 Environment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7598926" y="6967776"/>
            <a:ext cx="6030516" cy="54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wellnest-prod</a:t>
            </a: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namespace · </a:t>
            </a:r>
            <a:r>
              <a:rPr lang="en-US" sz="14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branch · </a:t>
            </a:r>
            <a:r>
              <a:rPr lang="en-US" sz="14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values-prod.yaml</a:t>
            </a: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HPA min:2 max:5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454223"/>
            <a:ext cx="7847290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Kubernetes Architecture — Traffic Flow</a:t>
            </a:r>
            <a:endParaRPr lang="en-US" sz="32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72026" y="963572"/>
            <a:ext cx="5758027" cy="5773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6389" y="5637099"/>
            <a:ext cx="2531025" cy="316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950" dirty="0"/>
          </a:p>
        </p:txBody>
      </p:sp>
      <p:sp>
        <p:nvSpPr>
          <p:cNvPr id="16" name="Text 9"/>
          <p:cNvSpPr/>
          <p:nvPr/>
        </p:nvSpPr>
        <p:spPr>
          <a:xfrm>
            <a:off x="1690568" y="7103031"/>
            <a:ext cx="11249144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enters via HAProxy, is routed through kgateway using path-based rules, distributed across namespace-isolated microservices, and persisted to replicated MongoDB instances backed by NFS storage.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492681"/>
            <a:ext cx="9943267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CI/CD — GitHub Actions, GitOps &amp; DevSecOps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1073944" y="1254085"/>
            <a:ext cx="6152555" cy="4664631"/>
          </a:xfrm>
          <a:prstGeom prst="roundRect">
            <a:avLst>
              <a:gd name="adj" fmla="val 2735"/>
            </a:avLst>
          </a:prstGeom>
          <a:solidFill>
            <a:srgbClr val="4950BC"/>
          </a:solidFill>
          <a:ln/>
        </p:spPr>
      </p:sp>
      <p:sp>
        <p:nvSpPr>
          <p:cNvPr id="4" name="Text 2"/>
          <p:cNvSpPr/>
          <p:nvPr/>
        </p:nvSpPr>
        <p:spPr>
          <a:xfrm>
            <a:off x="1251109" y="1392436"/>
            <a:ext cx="417968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 Branch — Continuous Deployment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7546" y="1830467"/>
            <a:ext cx="265748" cy="2657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6895" y="1824990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SAST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826895" y="2240161"/>
            <a:ext cx="2236827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SonarQube static analysis with quality gate enforcement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3157" y="1830467"/>
            <a:ext cx="265748" cy="2657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12506" y="1824990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812506" y="2240161"/>
            <a:ext cx="2236827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Snyk dependency scan — blocks known vulnerable packages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7546" y="3279696"/>
            <a:ext cx="265748" cy="2657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26895" y="3274219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Container Scan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826895" y="3689390"/>
            <a:ext cx="2236827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Trivy image scan — CRITICAL + HIGH severity findings block the pipeline</a:t>
            </a:r>
            <a:endParaRPr lang="en-US" sz="13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3157" y="3279696"/>
            <a:ext cx="265748" cy="2657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12506" y="3274219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GitOps</a:t>
            </a: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Update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4812506" y="3689390"/>
            <a:ext cx="2236827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 updates </a:t>
            </a:r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values-</a:t>
            </a:r>
            <a:r>
              <a:rPr lang="en-US" sz="135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dev.yaml</a:t>
            </a: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35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ArgoCD</a:t>
            </a: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autosyncs</a:t>
            </a: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1251109" y="4602361"/>
            <a:ext cx="5798225" cy="908209"/>
          </a:xfrm>
          <a:prstGeom prst="roundRect">
            <a:avLst>
              <a:gd name="adj" fmla="val 8195"/>
            </a:avLst>
          </a:prstGeom>
          <a:solidFill>
            <a:srgbClr val="B6FCB8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274" y="4859298"/>
            <a:ext cx="221456" cy="17716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826895" y="4785003"/>
            <a:ext cx="5045273" cy="51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→ build </a:t>
            </a:r>
            <a:r>
              <a:rPr lang="en-US" sz="1350" dirty="0">
                <a:solidFill>
                  <a:srgbClr val="000000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{SHA}</a:t>
            </a: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push Docker Hub → ArgoCD auto-syncs ✅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7411283" y="1254085"/>
            <a:ext cx="6152555" cy="4664631"/>
          </a:xfrm>
          <a:prstGeom prst="roundRect">
            <a:avLst>
              <a:gd name="adj" fmla="val 273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4"/>
          <p:cNvSpPr/>
          <p:nvPr/>
        </p:nvSpPr>
        <p:spPr>
          <a:xfrm>
            <a:off x="7588448" y="1392436"/>
            <a:ext cx="457604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/ Prod Branch — Continuous Delivery</a:t>
            </a:r>
            <a:endParaRPr lang="en-US" sz="17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4885" y="1830467"/>
            <a:ext cx="265748" cy="26574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164235" y="1824990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SAST</a:t>
            </a:r>
            <a:endParaRPr lang="en-US" sz="1700" dirty="0"/>
          </a:p>
        </p:txBody>
      </p:sp>
      <p:sp>
        <p:nvSpPr>
          <p:cNvPr id="24" name="Text 16"/>
          <p:cNvSpPr/>
          <p:nvPr/>
        </p:nvSpPr>
        <p:spPr>
          <a:xfrm>
            <a:off x="8164235" y="2240161"/>
            <a:ext cx="2236827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SonarQube static analysis with quality gate enforcement</a:t>
            </a:r>
            <a:endParaRPr lang="en-US" sz="13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40497" y="1830467"/>
            <a:ext cx="265748" cy="26574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1149846" y="1824990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</a:t>
            </a:r>
            <a:endParaRPr lang="en-US" sz="1700" dirty="0"/>
          </a:p>
        </p:txBody>
      </p:sp>
      <p:sp>
        <p:nvSpPr>
          <p:cNvPr id="27" name="Text 18"/>
          <p:cNvSpPr/>
          <p:nvPr/>
        </p:nvSpPr>
        <p:spPr>
          <a:xfrm>
            <a:off x="11149846" y="2240161"/>
            <a:ext cx="2236827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Snyk dependency scan — blocks known vulnerable packages</a:t>
            </a:r>
            <a:endParaRPr lang="en-US" sz="13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4885" y="3279696"/>
            <a:ext cx="265748" cy="265747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164235" y="3274219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Container Scan</a:t>
            </a:r>
            <a:endParaRPr lang="en-US" sz="1700" dirty="0"/>
          </a:p>
        </p:txBody>
      </p:sp>
      <p:sp>
        <p:nvSpPr>
          <p:cNvPr id="30" name="Text 20"/>
          <p:cNvSpPr/>
          <p:nvPr/>
        </p:nvSpPr>
        <p:spPr>
          <a:xfrm>
            <a:off x="8164235" y="3689390"/>
            <a:ext cx="2236827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Trivy image scan — CRITICAL + HIGH severity findings block the pipeline</a:t>
            </a:r>
            <a:endParaRPr lang="en-US" sz="135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40497" y="3279696"/>
            <a:ext cx="265748" cy="265747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1056976" y="3178702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</a:rPr>
              <a:t>Approval Gate and 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</a:rPr>
              <a:t>Push to manifest repo</a:t>
            </a:r>
            <a:endParaRPr lang="en-US" sz="1700" dirty="0"/>
          </a:p>
        </p:txBody>
      </p:sp>
      <p:sp>
        <p:nvSpPr>
          <p:cNvPr id="33" name="Text 22"/>
          <p:cNvSpPr/>
          <p:nvPr/>
        </p:nvSpPr>
        <p:spPr>
          <a:xfrm>
            <a:off x="10978396" y="3604915"/>
            <a:ext cx="2386489" cy="99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</a:pPr>
            <a:endParaRPr lang="en-US" sz="1350" dirty="0"/>
          </a:p>
        </p:txBody>
      </p:sp>
      <p:sp>
        <p:nvSpPr>
          <p:cNvPr id="34" name="Shape 23"/>
          <p:cNvSpPr/>
          <p:nvPr/>
        </p:nvSpPr>
        <p:spPr>
          <a:xfrm>
            <a:off x="7588448" y="4602361"/>
            <a:ext cx="5798225" cy="1160621"/>
          </a:xfrm>
          <a:prstGeom prst="roundRect">
            <a:avLst>
              <a:gd name="adj" fmla="val 6413"/>
            </a:avLst>
          </a:prstGeom>
          <a:solidFill>
            <a:srgbClr val="B6FCB8"/>
          </a:solidFill>
          <a:ln/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5613" y="4859298"/>
            <a:ext cx="221456" cy="177165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8164235" y="4785003"/>
            <a:ext cx="5045273" cy="764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→ create GitHub Release tag (v1.0.1) → build image with semantic version → push Docker Hub → ArgoCD auto-syncs ✅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1201460" y="6074450"/>
            <a:ext cx="354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50" dirty="0"/>
          </a:p>
        </p:txBody>
      </p:sp>
      <p:sp>
        <p:nvSpPr>
          <p:cNvPr id="38" name="Shape 26"/>
          <p:cNvSpPr/>
          <p:nvPr/>
        </p:nvSpPr>
        <p:spPr>
          <a:xfrm>
            <a:off x="1201460" y="6352699"/>
            <a:ext cx="398347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9" name="Text 27"/>
          <p:cNvSpPr/>
          <p:nvPr/>
        </p:nvSpPr>
        <p:spPr>
          <a:xfrm>
            <a:off x="1201460" y="6487001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Approval Gate</a:t>
            </a:r>
            <a:endParaRPr lang="en-US" sz="1700" dirty="0"/>
          </a:p>
        </p:txBody>
      </p:sp>
      <p:sp>
        <p:nvSpPr>
          <p:cNvPr id="40" name="Text 28"/>
          <p:cNvSpPr/>
          <p:nvPr/>
        </p:nvSpPr>
        <p:spPr>
          <a:xfrm>
            <a:off x="1201460" y="6846808"/>
            <a:ext cx="3983474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Environment: </a:t>
            </a: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manual approval required before any deployment proceeds</a:t>
            </a:r>
            <a:endParaRPr lang="en-US" sz="1350" dirty="0"/>
          </a:p>
        </p:txBody>
      </p:sp>
      <p:sp>
        <p:nvSpPr>
          <p:cNvPr id="41" name="Text 29"/>
          <p:cNvSpPr/>
          <p:nvPr/>
        </p:nvSpPr>
        <p:spPr>
          <a:xfrm>
            <a:off x="5323284" y="6074450"/>
            <a:ext cx="354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50" dirty="0"/>
          </a:p>
        </p:txBody>
      </p:sp>
      <p:sp>
        <p:nvSpPr>
          <p:cNvPr id="42" name="Shape 30"/>
          <p:cNvSpPr/>
          <p:nvPr/>
        </p:nvSpPr>
        <p:spPr>
          <a:xfrm>
            <a:off x="5323284" y="6352699"/>
            <a:ext cx="3983593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43" name="Text 31"/>
          <p:cNvSpPr/>
          <p:nvPr/>
        </p:nvSpPr>
        <p:spPr>
          <a:xfrm>
            <a:off x="5323284" y="6487001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&amp; Tag</a:t>
            </a:r>
            <a:endParaRPr lang="en-US" sz="1700" dirty="0"/>
          </a:p>
        </p:txBody>
      </p:sp>
      <p:sp>
        <p:nvSpPr>
          <p:cNvPr id="44" name="Text 32"/>
          <p:cNvSpPr/>
          <p:nvPr/>
        </p:nvSpPr>
        <p:spPr>
          <a:xfrm>
            <a:off x="5323284" y="6846808"/>
            <a:ext cx="398359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versioning (</a:t>
            </a: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v1.0.1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— Docker build + push to Docker Hub</a:t>
            </a:r>
            <a:endParaRPr lang="en-US" sz="1350" dirty="0"/>
          </a:p>
        </p:txBody>
      </p:sp>
      <p:sp>
        <p:nvSpPr>
          <p:cNvPr id="45" name="Text 33"/>
          <p:cNvSpPr/>
          <p:nvPr/>
        </p:nvSpPr>
        <p:spPr>
          <a:xfrm>
            <a:off x="9445228" y="6074450"/>
            <a:ext cx="354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50" dirty="0"/>
          </a:p>
        </p:txBody>
      </p:sp>
      <p:sp>
        <p:nvSpPr>
          <p:cNvPr id="46" name="Shape 34"/>
          <p:cNvSpPr/>
          <p:nvPr/>
        </p:nvSpPr>
        <p:spPr>
          <a:xfrm>
            <a:off x="9445228" y="6352699"/>
            <a:ext cx="398347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47" name="Text 35"/>
          <p:cNvSpPr/>
          <p:nvPr/>
        </p:nvSpPr>
        <p:spPr>
          <a:xfrm>
            <a:off x="9445228" y="6487001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GitOps Update</a:t>
            </a:r>
            <a:endParaRPr lang="en-US" sz="1700" dirty="0"/>
          </a:p>
        </p:txBody>
      </p:sp>
      <p:sp>
        <p:nvSpPr>
          <p:cNvPr id="48" name="Text 36"/>
          <p:cNvSpPr/>
          <p:nvPr/>
        </p:nvSpPr>
        <p:spPr>
          <a:xfrm>
            <a:off x="9445228" y="6846808"/>
            <a:ext cx="398347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 bot updates </a:t>
            </a: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values-prod.yaml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ArgoCD detects drift and syncs cluster</a:t>
            </a:r>
            <a:endParaRPr lang="en-US" sz="135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776B24-20D2-B37A-2D5C-B5F034F54528}"/>
              </a:ext>
            </a:extLst>
          </p:cNvPr>
          <p:cNvSpPr txBox="1"/>
          <p:nvPr/>
        </p:nvSpPr>
        <p:spPr>
          <a:xfrm>
            <a:off x="11056145" y="3690104"/>
            <a:ext cx="2596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Approve after error-check -&gt; bot updates values-</a:t>
            </a:r>
            <a:r>
              <a:rPr lang="en-IN" sz="1350" dirty="0" err="1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prod.yaml</a:t>
            </a:r>
            <a:r>
              <a:rPr lang="en-IN" sz="135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 -&gt; </a:t>
            </a:r>
            <a:r>
              <a:rPr lang="en-IN" sz="1350" dirty="0" err="1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ArgoCD</a:t>
            </a:r>
            <a:r>
              <a:rPr lang="en-IN" sz="135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 auto-syncs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7400" y="432316"/>
            <a:ext cx="4296966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CI/CD End-to-End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057400" y="1113353"/>
            <a:ext cx="10515600" cy="716518"/>
          </a:xfrm>
          <a:prstGeom prst="roundRect">
            <a:avLst>
              <a:gd name="adj" fmla="val 8933"/>
            </a:avLst>
          </a:prstGeom>
          <a:solidFill>
            <a:srgbClr val="C7C9E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322903"/>
            <a:ext cx="190500" cy="152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52700" y="1253847"/>
            <a:ext cx="9867900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wellnest-ci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reusable GitHub Actions workflow library shared by all service pipelines, ensuring consistent security gates and build steps across every microservice.</a:t>
            </a:r>
            <a:endParaRPr lang="en-US" sz="1200" dirty="0"/>
          </a:p>
        </p:txBody>
      </p:sp>
      <p:pic>
        <p:nvPicPr>
          <p:cNvPr id="7" name="Image 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83707" y="1829871"/>
            <a:ext cx="6422906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555665"/>
            <a:ext cx="940046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Pipeline Execution &amp; Release Workflow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4611" y="1609725"/>
            <a:ext cx="37729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 Pipeline — Develop Branch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3872389" y="2115145"/>
            <a:ext cx="22860" cy="5363408"/>
          </a:xfrm>
          <a:prstGeom prst="roundRect">
            <a:avLst>
              <a:gd name="adj" fmla="val 364651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3311366" y="2897505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0C1D7"/>
          </a:solidFill>
          <a:ln/>
        </p:spPr>
      </p:sp>
      <p:sp>
        <p:nvSpPr>
          <p:cNvPr id="6" name="Shape 4"/>
          <p:cNvSpPr/>
          <p:nvPr/>
        </p:nvSpPr>
        <p:spPr>
          <a:xfrm>
            <a:off x="3809405" y="2834521"/>
            <a:ext cx="148828" cy="148828"/>
          </a:xfrm>
          <a:prstGeom prst="roundRect">
            <a:avLst>
              <a:gd name="adj" fmla="val 307200"/>
            </a:avLst>
          </a:prstGeom>
          <a:solidFill>
            <a:srgbClr val="4950BC"/>
          </a:solidFill>
          <a:ln/>
        </p:spPr>
      </p:sp>
      <p:sp>
        <p:nvSpPr>
          <p:cNvPr id="7" name="Shape 5"/>
          <p:cNvSpPr/>
          <p:nvPr/>
        </p:nvSpPr>
        <p:spPr>
          <a:xfrm>
            <a:off x="694611" y="2115145"/>
            <a:ext cx="2593896" cy="1587698"/>
          </a:xfrm>
          <a:prstGeom prst="roundRect">
            <a:avLst>
              <a:gd name="adj" fmla="val 525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0589" y="2321123"/>
            <a:ext cx="21819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Trigger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00589" y="2804874"/>
            <a:ext cx="218193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to </a:t>
            </a: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develop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branch opens pipeline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860959" y="4139089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0C1D7"/>
          </a:solidFill>
          <a:ln/>
        </p:spPr>
      </p:sp>
      <p:sp>
        <p:nvSpPr>
          <p:cNvPr id="11" name="Shape 9"/>
          <p:cNvSpPr/>
          <p:nvPr/>
        </p:nvSpPr>
        <p:spPr>
          <a:xfrm>
            <a:off x="3809405" y="4076105"/>
            <a:ext cx="148828" cy="148828"/>
          </a:xfrm>
          <a:prstGeom prst="roundRect">
            <a:avLst>
              <a:gd name="adj" fmla="val 307200"/>
            </a:avLst>
          </a:prstGeom>
          <a:solidFill>
            <a:srgbClr val="4950B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79131" y="3256240"/>
            <a:ext cx="2594015" cy="1788676"/>
          </a:xfrm>
          <a:prstGeom prst="roundRect">
            <a:avLst>
              <a:gd name="adj" fmla="val 466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5109" y="3462218"/>
            <a:ext cx="21820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Gate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685109" y="3945969"/>
            <a:ext cx="2182058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SonarQube SAST · Snyk SCA · Trivy container scan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3311366" y="5207079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0C1D7"/>
          </a:solidFill>
          <a:ln/>
        </p:spPr>
      </p:sp>
      <p:sp>
        <p:nvSpPr>
          <p:cNvPr id="16" name="Shape 14"/>
          <p:cNvSpPr/>
          <p:nvPr/>
        </p:nvSpPr>
        <p:spPr>
          <a:xfrm>
            <a:off x="3809405" y="5144095"/>
            <a:ext cx="148828" cy="148828"/>
          </a:xfrm>
          <a:prstGeom prst="roundRect">
            <a:avLst>
              <a:gd name="adj" fmla="val 307200"/>
            </a:avLst>
          </a:prstGeom>
          <a:solidFill>
            <a:srgbClr val="4950BC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611" y="4324231"/>
            <a:ext cx="2593896" cy="1788676"/>
          </a:xfrm>
          <a:prstGeom prst="roundRect">
            <a:avLst>
              <a:gd name="adj" fmla="val 466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589" y="4530209"/>
            <a:ext cx="21819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Merge &amp; Build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00589" y="5013960"/>
            <a:ext cx="2181939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 approves → image built as </a:t>
            </a: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dev-{SHA}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pushed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60959" y="6423898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0C1D7"/>
          </a:solidFill>
          <a:ln/>
        </p:spPr>
      </p:sp>
      <p:sp>
        <p:nvSpPr>
          <p:cNvPr id="21" name="Shape 19"/>
          <p:cNvSpPr/>
          <p:nvPr/>
        </p:nvSpPr>
        <p:spPr>
          <a:xfrm>
            <a:off x="3809405" y="6360914"/>
            <a:ext cx="148828" cy="148828"/>
          </a:xfrm>
          <a:prstGeom prst="roundRect">
            <a:avLst>
              <a:gd name="adj" fmla="val 307200"/>
            </a:avLst>
          </a:prstGeom>
          <a:solidFill>
            <a:srgbClr val="4950BC"/>
          </a:solidFill>
          <a:ln/>
        </p:spPr>
      </p:sp>
      <p:sp>
        <p:nvSpPr>
          <p:cNvPr id="22" name="Shape 20"/>
          <p:cNvSpPr/>
          <p:nvPr/>
        </p:nvSpPr>
        <p:spPr>
          <a:xfrm>
            <a:off x="4479131" y="5392222"/>
            <a:ext cx="2594015" cy="2086332"/>
          </a:xfrm>
          <a:prstGeom prst="roundRect">
            <a:avLst>
              <a:gd name="adj" fmla="val 399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5109" y="5598200"/>
            <a:ext cx="21820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GitOps Sync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4685109" y="6081951"/>
            <a:ext cx="2182058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ArgoCD detects </a:t>
            </a: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values-dev.yaml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update → auto-deploys to dev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564874" y="1609725"/>
            <a:ext cx="41424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 Pipeline — Release Workflow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742652" y="2115145"/>
            <a:ext cx="22860" cy="5363408"/>
          </a:xfrm>
          <a:prstGeom prst="roundRect">
            <a:avLst>
              <a:gd name="adj" fmla="val 364651"/>
            </a:avLst>
          </a:prstGeom>
          <a:solidFill>
            <a:srgbClr val="C0C1D7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81630" y="2997994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0C1D7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79668" y="2935010"/>
            <a:ext cx="148828" cy="148828"/>
          </a:xfrm>
          <a:prstGeom prst="roundRect">
            <a:avLst>
              <a:gd name="adj" fmla="val 307200"/>
            </a:avLst>
          </a:prstGeom>
          <a:solidFill>
            <a:srgbClr val="4950BC"/>
          </a:solidFill>
          <a:ln/>
        </p:spPr>
      </p:sp>
      <p:sp>
        <p:nvSpPr>
          <p:cNvPr id="29" name="Shape 27"/>
          <p:cNvSpPr/>
          <p:nvPr/>
        </p:nvSpPr>
        <p:spPr>
          <a:xfrm>
            <a:off x="7564874" y="2115145"/>
            <a:ext cx="2593896" cy="1788676"/>
          </a:xfrm>
          <a:prstGeom prst="roundRect">
            <a:avLst>
              <a:gd name="adj" fmla="val 466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0852" y="2321123"/>
            <a:ext cx="21819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 to Main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7770852" y="2804874"/>
            <a:ext cx="2181939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full security gate runs — no image built on merge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10731222" y="4287917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0C1D7"/>
          </a:solidFill>
          <a:ln/>
        </p:spPr>
      </p:sp>
      <p:sp>
        <p:nvSpPr>
          <p:cNvPr id="33" name="Shape 31"/>
          <p:cNvSpPr/>
          <p:nvPr/>
        </p:nvSpPr>
        <p:spPr>
          <a:xfrm>
            <a:off x="10679668" y="4224933"/>
            <a:ext cx="148828" cy="148828"/>
          </a:xfrm>
          <a:prstGeom prst="roundRect">
            <a:avLst>
              <a:gd name="adj" fmla="val 307200"/>
            </a:avLst>
          </a:prstGeom>
          <a:solidFill>
            <a:srgbClr val="4950BC"/>
          </a:solidFill>
          <a:ln/>
        </p:spPr>
      </p:sp>
      <p:sp>
        <p:nvSpPr>
          <p:cNvPr id="34" name="Shape 32"/>
          <p:cNvSpPr/>
          <p:nvPr/>
        </p:nvSpPr>
        <p:spPr>
          <a:xfrm>
            <a:off x="11349395" y="3256240"/>
            <a:ext cx="2594015" cy="2086332"/>
          </a:xfrm>
          <a:prstGeom prst="roundRect">
            <a:avLst>
              <a:gd name="adj" fmla="val 399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555373" y="3462218"/>
            <a:ext cx="21820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 Release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1555373" y="3945969"/>
            <a:ext cx="2182058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creates release tag (e.g. </a:t>
            </a: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v2.0.0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to trigger prod pipeline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10181630" y="5355908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0C1D7"/>
          </a:solidFill>
          <a:ln/>
        </p:spPr>
      </p:sp>
      <p:sp>
        <p:nvSpPr>
          <p:cNvPr id="38" name="Shape 36"/>
          <p:cNvSpPr/>
          <p:nvPr/>
        </p:nvSpPr>
        <p:spPr>
          <a:xfrm>
            <a:off x="10679668" y="5292923"/>
            <a:ext cx="148828" cy="148828"/>
          </a:xfrm>
          <a:prstGeom prst="roundRect">
            <a:avLst>
              <a:gd name="adj" fmla="val 307200"/>
            </a:avLst>
          </a:prstGeom>
          <a:solidFill>
            <a:srgbClr val="4950BC"/>
          </a:solidFill>
          <a:ln/>
        </p:spPr>
      </p:sp>
      <p:sp>
        <p:nvSpPr>
          <p:cNvPr id="39" name="Shape 37"/>
          <p:cNvSpPr/>
          <p:nvPr/>
        </p:nvSpPr>
        <p:spPr>
          <a:xfrm>
            <a:off x="7564874" y="4473059"/>
            <a:ext cx="2593896" cy="1788676"/>
          </a:xfrm>
          <a:prstGeom prst="roundRect">
            <a:avLst>
              <a:gd name="adj" fmla="val 466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0852" y="4679037"/>
            <a:ext cx="21819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Approval Gate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7770852" y="5162788"/>
            <a:ext cx="2181939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approval via GitHub Environment: </a:t>
            </a: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550" dirty="0"/>
          </a:p>
        </p:txBody>
      </p:sp>
      <p:sp>
        <p:nvSpPr>
          <p:cNvPr id="42" name="Shape 40"/>
          <p:cNvSpPr/>
          <p:nvPr/>
        </p:nvSpPr>
        <p:spPr>
          <a:xfrm>
            <a:off x="10731222" y="6572726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0C1D7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79668" y="6509742"/>
            <a:ext cx="148828" cy="148828"/>
          </a:xfrm>
          <a:prstGeom prst="roundRect">
            <a:avLst>
              <a:gd name="adj" fmla="val 307200"/>
            </a:avLst>
          </a:prstGeom>
          <a:solidFill>
            <a:srgbClr val="4950BC"/>
          </a:solidFill>
          <a:ln/>
        </p:spPr>
      </p:sp>
      <p:sp>
        <p:nvSpPr>
          <p:cNvPr id="44" name="Shape 42"/>
          <p:cNvSpPr/>
          <p:nvPr/>
        </p:nvSpPr>
        <p:spPr>
          <a:xfrm>
            <a:off x="11349395" y="5689878"/>
            <a:ext cx="2594015" cy="1788676"/>
          </a:xfrm>
          <a:prstGeom prst="roundRect">
            <a:avLst>
              <a:gd name="adj" fmla="val 466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555373" y="5895856"/>
            <a:ext cx="21820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 to Prod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1555373" y="6379607"/>
            <a:ext cx="2182058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tagged </a:t>
            </a: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v2.0.0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pushed → ArgoCD syncs </a:t>
            </a: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wellnest-prod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593765"/>
            <a:ext cx="10173414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 &amp; Architecture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9376" y="1608653"/>
            <a:ext cx="6502718" cy="2288858"/>
          </a:xfrm>
          <a:prstGeom prst="roundRect">
            <a:avLst>
              <a:gd name="adj" fmla="val 37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498" y="1821775"/>
            <a:ext cx="616625" cy="616625"/>
          </a:xfrm>
          <a:prstGeom prst="roundRect">
            <a:avLst>
              <a:gd name="adj" fmla="val 14827627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043" y="1991320"/>
            <a:ext cx="277416" cy="2774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498" y="2624614"/>
            <a:ext cx="2978825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Cloud-Native by Design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32498" y="3057406"/>
            <a:ext cx="6076474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containerized services, multi-stage Docker builds, non-root execution, minimal Alpine base images.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08307" y="1608653"/>
            <a:ext cx="6502718" cy="2288858"/>
          </a:xfrm>
          <a:prstGeom prst="roundRect">
            <a:avLst>
              <a:gd name="adj" fmla="val 37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21429" y="1821775"/>
            <a:ext cx="616625" cy="616625"/>
          </a:xfrm>
          <a:prstGeom prst="roundRect">
            <a:avLst>
              <a:gd name="adj" fmla="val 14827627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0974" y="1991320"/>
            <a:ext cx="277416" cy="2774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1429" y="2624614"/>
            <a:ext cx="3775234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Production-Grade Kubernetes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621429" y="3057406"/>
            <a:ext cx="6076474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Namespace isolation, HPA autoscaling, StatefulSet MongoDB, NFS persistence, Gateway API routing.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19376" y="4083725"/>
            <a:ext cx="6502718" cy="2296477"/>
          </a:xfrm>
          <a:prstGeom prst="roundRect">
            <a:avLst>
              <a:gd name="adj" fmla="val 376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32498" y="4296847"/>
            <a:ext cx="616625" cy="616625"/>
          </a:xfrm>
          <a:prstGeom prst="roundRect">
            <a:avLst>
              <a:gd name="adj" fmla="val 14827627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2043" y="4466392"/>
            <a:ext cx="277416" cy="2774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2498" y="5099685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Shift-Left Security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932498" y="5532477"/>
            <a:ext cx="6076474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SAST, SCA, and container scanning on every PR. CRITICAL/HIGH findings block the pipeline before merge.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408307" y="4083725"/>
            <a:ext cx="6502718" cy="2296477"/>
          </a:xfrm>
          <a:prstGeom prst="roundRect">
            <a:avLst>
              <a:gd name="adj" fmla="val 376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21429" y="4296847"/>
            <a:ext cx="616625" cy="616625"/>
          </a:xfrm>
          <a:prstGeom prst="roundRect">
            <a:avLst>
              <a:gd name="adj" fmla="val 14827627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90974" y="4466392"/>
            <a:ext cx="277416" cy="2774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21429" y="5099685"/>
            <a:ext cx="2600444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True GitOps Delivery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7621429" y="5532477"/>
            <a:ext cx="6076474" cy="6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ArgoCD drives all deployments from Helm values. No manual 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cluster state is always declarative.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027628" y="6799302"/>
            <a:ext cx="12883396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WellNest demonstrates a complete DevSecOps lifecycle — from code commit to production deployment — with security, observability, and infrastructure-as-code built in at every layer.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719376" y="6589752"/>
            <a:ext cx="22860" cy="1046083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20078"/>
            <a:ext cx="867072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SonarQube Analysis Dashboard</a:t>
            </a:r>
            <a:endParaRPr lang="en-US" sz="4350" dirty="0"/>
          </a:p>
        </p:txBody>
      </p:sp>
      <p:pic>
        <p:nvPicPr>
          <p:cNvPr id="4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5023" y="1410843"/>
            <a:ext cx="13300353" cy="58280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B1A5D7-3D00-4463-BAA7-027FB146E517}"/>
              </a:ext>
            </a:extLst>
          </p:cNvPr>
          <p:cNvSpPr txBox="1"/>
          <p:nvPr/>
        </p:nvSpPr>
        <p:spPr>
          <a:xfrm>
            <a:off x="390525" y="171450"/>
            <a:ext cx="74104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 err="1">
                <a:latin typeface="Inter Bold"/>
              </a:rPr>
              <a:t>Synk</a:t>
            </a:r>
            <a:r>
              <a:rPr lang="en-IN" sz="4400" dirty="0">
                <a:latin typeface="Inter Bold"/>
              </a:rPr>
              <a:t> 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CDB064-73AD-18B0-F0E0-6BC8E097D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150" y="940891"/>
            <a:ext cx="12588300" cy="674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28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7941"/>
            <a:ext cx="78646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Docker Hub Repository Tags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378505"/>
            <a:ext cx="831270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bharath44623/wellnest-auth-service</a:t>
            </a:r>
            <a:endParaRPr lang="en-US" sz="24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B2D96DB-5195-6C15-66D0-A2C015CB5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120" y="2038794"/>
            <a:ext cx="11013440" cy="58586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036" y="423029"/>
            <a:ext cx="381000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GitOps with ArgoCD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23036" y="1113353"/>
            <a:ext cx="11984328" cy="716518"/>
          </a:xfrm>
          <a:prstGeom prst="roundRect">
            <a:avLst>
              <a:gd name="adj" fmla="val 8933"/>
            </a:avLst>
          </a:prstGeom>
          <a:solidFill>
            <a:srgbClr val="B6FCB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325" y="1322903"/>
            <a:ext cx="190500" cy="152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2114" y="1253847"/>
            <a:ext cx="10924236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ArgoCD manages deployments using the app-of-apps pattern. selfHeal + prune enabled — cluster state always matches Git. develop branch → DEV cluster. main branch → PROD cluster.</a:t>
            </a:r>
            <a:endParaRPr lang="en-US" sz="1200" dirty="0"/>
          </a:p>
        </p:txBody>
      </p:sp>
      <p:pic>
        <p:nvPicPr>
          <p:cNvPr id="7" name="Image 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23036" y="2034658"/>
            <a:ext cx="11984328" cy="55696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376" y="432316"/>
            <a:ext cx="7243286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Monitoring — Prometheus &amp; Grafana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43375" y="1113353"/>
            <a:ext cx="12343647" cy="716518"/>
          </a:xfrm>
          <a:prstGeom prst="roundRect">
            <a:avLst>
              <a:gd name="adj" fmla="val 8933"/>
            </a:avLst>
          </a:prstGeom>
          <a:solidFill>
            <a:srgbClr val="B6D6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778" y="1296709"/>
            <a:ext cx="190500" cy="152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1625" y="1253847"/>
            <a:ext cx="11496675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 + Grafana deployed on both dev and prod clusters.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Exposed via HAProxy on NodePorts 32000 (Grafana) and 32001 (Prometheus). Custom WellNest dashboards track service health, pod metrics, MongoDB status, and HPA scaling.</a:t>
            </a:r>
            <a:endParaRPr lang="en-US" sz="1200" dirty="0"/>
          </a:p>
        </p:txBody>
      </p:sp>
      <p:pic>
        <p:nvPicPr>
          <p:cNvPr id="7" name="Image 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3376" y="2034658"/>
            <a:ext cx="12343647" cy="55751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14854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26566" y="2330292"/>
            <a:ext cx="13377149" cy="4209812"/>
          </a:xfrm>
          <a:prstGeom prst="roundRect">
            <a:avLst>
              <a:gd name="adj" fmla="val 3879"/>
            </a:avLst>
          </a:prstGeom>
          <a:solidFill>
            <a:srgbClr val="AFCBF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857250" y="27611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 Repository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342322"/>
            <a:ext cx="6117788" cy="666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WellNest-Project — Organization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  (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hlinkClick r:id="rId3"/>
              </a:rPr>
              <a:t>https://github.com/WellNest-Project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7250" y="43457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62982" y="27611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URLs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62982" y="3342322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Production App (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/>
              </a:rPr>
              <a:t>http://wellnest-project.online/)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62982" y="3909298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Development App (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/>
              </a:rPr>
              <a:t>http://wellnest-project.online:8081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62982" y="4476274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ArgoCD UI (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/>
              </a:rPr>
              <a:t>http://wellnest-project.online:8080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62982" y="5043249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Grafana (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7"/>
              </a:rPr>
              <a:t>http://wellnest-project.online:3200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662982" y="5610225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Prometheus (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8"/>
              </a:rPr>
              <a:t>http://wellnest-project.online:9090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662982" y="6177201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</TotalTime>
  <Words>1079</Words>
  <Application>Microsoft Office PowerPoint</Application>
  <PresentationFormat>Custom</PresentationFormat>
  <Paragraphs>170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Inter</vt:lpstr>
      <vt:lpstr>Inter Light</vt:lpstr>
      <vt:lpstr>Calibri Light</vt:lpstr>
      <vt:lpstr>Inter Bold</vt:lpstr>
      <vt:lpstr>Arial</vt:lpstr>
      <vt:lpstr>Consolas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Bharath Kakunuri</dc:creator>
  <cp:lastModifiedBy>Bharath Kakunuri</cp:lastModifiedBy>
  <cp:revision>3</cp:revision>
  <dcterms:created xsi:type="dcterms:W3CDTF">2026-04-28T06:52:12Z</dcterms:created>
  <dcterms:modified xsi:type="dcterms:W3CDTF">2026-04-28T11:51:32Z</dcterms:modified>
</cp:coreProperties>
</file>